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anva Sans Bold" charset="1" panose="020B0803030501040103"/>
      <p:regular r:id="rId25"/>
    </p:embeddedFont>
    <p:embeddedFont>
      <p:font typeface="Canva Sans Bold Italics" charset="1" panose="020B0803030501040103"/>
      <p:regular r:id="rId26"/>
    </p:embeddedFont>
    <p:embeddedFont>
      <p:font typeface="DM Sans Bold" charset="1" panose="00000000000000000000"/>
      <p:regular r:id="rId27"/>
    </p:embeddedFont>
    <p:embeddedFont>
      <p:font typeface="Canva Sans" charset="1" panose="020B05030305010401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7104" y="0"/>
            <a:ext cx="14219611" cy="8229600"/>
          </a:xfrm>
          <a:custGeom>
            <a:avLst/>
            <a:gdLst/>
            <a:ahLst/>
            <a:cxnLst/>
            <a:rect r="r" b="b" t="t" l="l"/>
            <a:pathLst>
              <a:path h="8229600" w="14219611">
                <a:moveTo>
                  <a:pt x="0" y="0"/>
                </a:moveTo>
                <a:lnTo>
                  <a:pt x="14219611" y="0"/>
                </a:lnTo>
                <a:lnTo>
                  <a:pt x="1421961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99987" y="3042078"/>
            <a:ext cx="4678366" cy="8520203"/>
          </a:xfrm>
          <a:custGeom>
            <a:avLst/>
            <a:gdLst/>
            <a:ahLst/>
            <a:cxnLst/>
            <a:rect r="r" b="b" t="t" l="l"/>
            <a:pathLst>
              <a:path h="8520203" w="4678366">
                <a:moveTo>
                  <a:pt x="0" y="0"/>
                </a:moveTo>
                <a:lnTo>
                  <a:pt x="4678366" y="0"/>
                </a:lnTo>
                <a:lnTo>
                  <a:pt x="4678366" y="8520204"/>
                </a:lnTo>
                <a:lnTo>
                  <a:pt x="0" y="85202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70178" y="4953000"/>
            <a:ext cx="13233464" cy="338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17"/>
              </a:lnSpc>
            </a:pPr>
            <a:r>
              <a:rPr lang="en-US" sz="972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HR. ANALYTICS - SQL 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82397" y="9163050"/>
            <a:ext cx="61043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-by Devanshi Joshi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4522" y="1028700"/>
            <a:ext cx="7920990" cy="8229600"/>
          </a:xfrm>
          <a:custGeom>
            <a:avLst/>
            <a:gdLst/>
            <a:ahLst/>
            <a:cxnLst/>
            <a:rect r="r" b="b" t="t" l="l"/>
            <a:pathLst>
              <a:path h="8229600" w="7920990">
                <a:moveTo>
                  <a:pt x="0" y="0"/>
                </a:moveTo>
                <a:lnTo>
                  <a:pt x="7920990" y="0"/>
                </a:lnTo>
                <a:lnTo>
                  <a:pt x="79209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95017" y="0"/>
            <a:ext cx="12692983" cy="10287000"/>
          </a:xfrm>
          <a:custGeom>
            <a:avLst/>
            <a:gdLst/>
            <a:ahLst/>
            <a:cxnLst/>
            <a:rect r="r" b="b" t="t" l="l"/>
            <a:pathLst>
              <a:path h="10287000" w="12692983">
                <a:moveTo>
                  <a:pt x="0" y="0"/>
                </a:moveTo>
                <a:lnTo>
                  <a:pt x="12692983" y="0"/>
                </a:lnTo>
                <a:lnTo>
                  <a:pt x="126929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5776" y="3253054"/>
            <a:ext cx="4240709" cy="903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Table Names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8961" y="4480739"/>
            <a:ext cx="3754338" cy="435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1767" indent="-390884" lvl="1">
              <a:lnSpc>
                <a:spcPts val="5069"/>
              </a:lnSpc>
              <a:buFont typeface="Arial"/>
              <a:buChar char="•"/>
            </a:pPr>
            <a:r>
              <a:rPr lang="en-US" sz="36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Employees</a:t>
            </a:r>
          </a:p>
          <a:p>
            <a:pPr algn="l" marL="781767" indent="-390884" lvl="1">
              <a:lnSpc>
                <a:spcPts val="5069"/>
              </a:lnSpc>
              <a:buFont typeface="Arial"/>
              <a:buChar char="•"/>
            </a:pPr>
            <a:r>
              <a:rPr lang="en-US" sz="36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Departments</a:t>
            </a:r>
          </a:p>
          <a:p>
            <a:pPr algn="l" marL="781767" indent="-390884" lvl="1">
              <a:lnSpc>
                <a:spcPts val="5069"/>
              </a:lnSpc>
              <a:buFont typeface="Arial"/>
              <a:buChar char="•"/>
            </a:pPr>
            <a:r>
              <a:rPr lang="en-US" sz="36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Jobs</a:t>
            </a:r>
          </a:p>
          <a:p>
            <a:pPr algn="l" marL="781767" indent="-390884" lvl="1">
              <a:lnSpc>
                <a:spcPts val="5069"/>
              </a:lnSpc>
              <a:buFont typeface="Arial"/>
              <a:buChar char="•"/>
            </a:pPr>
            <a:r>
              <a:rPr lang="en-US" sz="36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Job_History</a:t>
            </a:r>
          </a:p>
          <a:p>
            <a:pPr algn="l" marL="673820" indent="-336910" lvl="1">
              <a:lnSpc>
                <a:spcPts val="4369"/>
              </a:lnSpc>
              <a:buFont typeface="Arial"/>
              <a:buChar char="•"/>
            </a:pPr>
            <a:r>
              <a:rPr lang="en-US" sz="31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Locations</a:t>
            </a:r>
          </a:p>
          <a:p>
            <a:pPr algn="l" marL="781767" indent="-390884" lvl="1">
              <a:lnSpc>
                <a:spcPts val="5069"/>
              </a:lnSpc>
              <a:buFont typeface="Arial"/>
              <a:buChar char="•"/>
            </a:pPr>
            <a:r>
              <a:rPr lang="en-US" sz="36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Regions</a:t>
            </a:r>
          </a:p>
          <a:p>
            <a:pPr algn="l" marL="781767" indent="-390884" lvl="1">
              <a:lnSpc>
                <a:spcPts val="5069"/>
              </a:lnSpc>
              <a:buFont typeface="Arial"/>
              <a:buChar char="•"/>
            </a:pPr>
            <a:r>
              <a:rPr lang="en-US" sz="362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Countries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9408" y="145074"/>
            <a:ext cx="4157960" cy="236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SCHEMA </a:t>
            </a:r>
          </a:p>
          <a:p>
            <a:pPr algn="ctr">
              <a:lnSpc>
                <a:spcPts val="9520"/>
              </a:lnSpc>
            </a:pPr>
            <a:r>
              <a:rPr lang="en-US" sz="6800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DIAGRAM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3860" y="2981637"/>
            <a:ext cx="8440645" cy="2161863"/>
            <a:chOff x="0" y="0"/>
            <a:chExt cx="2223050" cy="569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3050" cy="569379"/>
            </a:xfrm>
            <a:custGeom>
              <a:avLst/>
              <a:gdLst/>
              <a:ahLst/>
              <a:cxnLst/>
              <a:rect r="r" b="b" t="t" l="l"/>
              <a:pathLst>
                <a:path h="569379" w="2223050">
                  <a:moveTo>
                    <a:pt x="46778" y="0"/>
                  </a:moveTo>
                  <a:lnTo>
                    <a:pt x="2176272" y="0"/>
                  </a:lnTo>
                  <a:cubicBezTo>
                    <a:pt x="2188679" y="0"/>
                    <a:pt x="2200577" y="4928"/>
                    <a:pt x="2209349" y="13701"/>
                  </a:cubicBezTo>
                  <a:cubicBezTo>
                    <a:pt x="2218122" y="22474"/>
                    <a:pt x="2223050" y="34372"/>
                    <a:pt x="2223050" y="46778"/>
                  </a:cubicBezTo>
                  <a:lnTo>
                    <a:pt x="2223050" y="522601"/>
                  </a:lnTo>
                  <a:cubicBezTo>
                    <a:pt x="2223050" y="535008"/>
                    <a:pt x="2218122" y="546906"/>
                    <a:pt x="2209349" y="555678"/>
                  </a:cubicBezTo>
                  <a:cubicBezTo>
                    <a:pt x="2200577" y="564451"/>
                    <a:pt x="2188679" y="569379"/>
                    <a:pt x="2176272" y="569379"/>
                  </a:cubicBezTo>
                  <a:lnTo>
                    <a:pt x="46778" y="569379"/>
                  </a:lnTo>
                  <a:cubicBezTo>
                    <a:pt x="34372" y="569379"/>
                    <a:pt x="22474" y="564451"/>
                    <a:pt x="13701" y="555678"/>
                  </a:cubicBezTo>
                  <a:cubicBezTo>
                    <a:pt x="4928" y="546906"/>
                    <a:pt x="0" y="535008"/>
                    <a:pt x="0" y="522601"/>
                  </a:cubicBezTo>
                  <a:lnTo>
                    <a:pt x="0" y="46778"/>
                  </a:lnTo>
                  <a:cubicBezTo>
                    <a:pt x="0" y="34372"/>
                    <a:pt x="4928" y="22474"/>
                    <a:pt x="13701" y="13701"/>
                  </a:cubicBezTo>
                  <a:cubicBezTo>
                    <a:pt x="22474" y="4928"/>
                    <a:pt x="34372" y="0"/>
                    <a:pt x="46778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223050" cy="502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SELECT count(*) AS total_employees</a:t>
              </a:r>
            </a:p>
            <a:p>
              <a:pPr algn="l">
                <a:lnSpc>
                  <a:spcPts val="3194"/>
                </a:lnSpc>
              </a:pPr>
              <a:r>
                <a:rPr lang="en-US" sz="32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FROM </a:t>
              </a:r>
              <a:r>
                <a:rPr lang="en-US" sz="32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employees;</a:t>
              </a:r>
            </a:p>
            <a:p>
              <a:pPr algn="l">
                <a:lnSpc>
                  <a:spcPts val="309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0584" y="5541968"/>
            <a:ext cx="6226125" cy="3183282"/>
          </a:xfrm>
          <a:custGeom>
            <a:avLst/>
            <a:gdLst/>
            <a:ahLst/>
            <a:cxnLst/>
            <a:rect r="r" b="b" t="t" l="l"/>
            <a:pathLst>
              <a:path h="3183282" w="6226125">
                <a:moveTo>
                  <a:pt x="0" y="0"/>
                </a:moveTo>
                <a:lnTo>
                  <a:pt x="6226126" y="0"/>
                </a:lnTo>
                <a:lnTo>
                  <a:pt x="6226126" y="3183282"/>
                </a:lnTo>
                <a:lnTo>
                  <a:pt x="0" y="3183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96710" y="0"/>
            <a:ext cx="11571309" cy="12022139"/>
          </a:xfrm>
          <a:custGeom>
            <a:avLst/>
            <a:gdLst/>
            <a:ahLst/>
            <a:cxnLst/>
            <a:rect r="r" b="b" t="t" l="l"/>
            <a:pathLst>
              <a:path h="12022139" w="11571309">
                <a:moveTo>
                  <a:pt x="0" y="0"/>
                </a:moveTo>
                <a:lnTo>
                  <a:pt x="11571308" y="0"/>
                </a:lnTo>
                <a:lnTo>
                  <a:pt x="11571308" y="12022139"/>
                </a:lnTo>
                <a:lnTo>
                  <a:pt x="0" y="120221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3860" y="1943151"/>
            <a:ext cx="8888700" cy="103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329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Total number of employees in the company</a:t>
            </a:r>
            <a:r>
              <a:rPr lang="en-US" sz="329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2515"/>
              </a:lnSpc>
            </a:pPr>
          </a:p>
          <a:p>
            <a:pPr algn="l">
              <a:lnSpc>
                <a:spcPts val="251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0"/>
            <a:ext cx="16747702" cy="13083529"/>
          </a:xfrm>
          <a:custGeom>
            <a:avLst/>
            <a:gdLst/>
            <a:ahLst/>
            <a:cxnLst/>
            <a:rect r="r" b="b" t="t" l="l"/>
            <a:pathLst>
              <a:path h="13083529" w="16747702">
                <a:moveTo>
                  <a:pt x="0" y="0"/>
                </a:moveTo>
                <a:lnTo>
                  <a:pt x="16747702" y="0"/>
                </a:lnTo>
                <a:lnTo>
                  <a:pt x="16747702" y="13083529"/>
                </a:lnTo>
                <a:lnTo>
                  <a:pt x="0" y="130835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496" r="0" b="-1649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4463" y="1638915"/>
            <a:ext cx="11531623" cy="3828564"/>
            <a:chOff x="0" y="0"/>
            <a:chExt cx="3037135" cy="10083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37135" cy="1008346"/>
            </a:xfrm>
            <a:custGeom>
              <a:avLst/>
              <a:gdLst/>
              <a:ahLst/>
              <a:cxnLst/>
              <a:rect r="r" b="b" t="t" l="l"/>
              <a:pathLst>
                <a:path h="1008346" w="3037135">
                  <a:moveTo>
                    <a:pt x="34240" y="0"/>
                  </a:moveTo>
                  <a:lnTo>
                    <a:pt x="3002896" y="0"/>
                  </a:lnTo>
                  <a:cubicBezTo>
                    <a:pt x="3021806" y="0"/>
                    <a:pt x="3037135" y="15330"/>
                    <a:pt x="3037135" y="34240"/>
                  </a:cubicBezTo>
                  <a:lnTo>
                    <a:pt x="3037135" y="974106"/>
                  </a:lnTo>
                  <a:cubicBezTo>
                    <a:pt x="3037135" y="983187"/>
                    <a:pt x="3033528" y="991896"/>
                    <a:pt x="3027107" y="998317"/>
                  </a:cubicBezTo>
                  <a:cubicBezTo>
                    <a:pt x="3020686" y="1004739"/>
                    <a:pt x="3011977" y="1008346"/>
                    <a:pt x="3002896" y="1008346"/>
                  </a:cubicBezTo>
                  <a:lnTo>
                    <a:pt x="34240" y="1008346"/>
                  </a:lnTo>
                  <a:cubicBezTo>
                    <a:pt x="15330" y="1008346"/>
                    <a:pt x="0" y="993016"/>
                    <a:pt x="0" y="974106"/>
                  </a:cubicBezTo>
                  <a:lnTo>
                    <a:pt x="0" y="34240"/>
                  </a:lnTo>
                  <a:cubicBezTo>
                    <a:pt x="0" y="15330"/>
                    <a:pt x="15330" y="0"/>
                    <a:pt x="34240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3037135" cy="92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79"/>
                </a:lnSpc>
              </a:pPr>
              <a:r>
                <a:rPr lang="en-US" sz="3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SELECT</a:t>
              </a:r>
              <a:r>
                <a:rPr lang="en-US" sz="3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e.department_id, d.department_name,      count(*) as number_of_employees</a:t>
              </a:r>
            </a:p>
            <a:p>
              <a:pPr algn="l">
                <a:lnSpc>
                  <a:spcPts val="3679"/>
                </a:lnSpc>
              </a:pPr>
              <a:r>
                <a:rPr lang="en-US" sz="3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FROM employees e </a:t>
              </a:r>
            </a:p>
            <a:p>
              <a:pPr algn="l">
                <a:lnSpc>
                  <a:spcPts val="3679"/>
                </a:lnSpc>
              </a:pPr>
              <a:r>
                <a:rPr lang="en-US" sz="3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LEFT JOIN departments d</a:t>
              </a:r>
            </a:p>
            <a:p>
              <a:pPr algn="l">
                <a:lnSpc>
                  <a:spcPts val="3679"/>
                </a:lnSpc>
              </a:pPr>
              <a:r>
                <a:rPr lang="en-US" sz="3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ON e.department_id = d.department_id</a:t>
              </a:r>
            </a:p>
            <a:p>
              <a:pPr algn="l">
                <a:lnSpc>
                  <a:spcPts val="3679"/>
                </a:lnSpc>
              </a:pPr>
              <a:r>
                <a:rPr lang="en-US" sz="3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GROUP BY e.department_id;</a:t>
              </a:r>
            </a:p>
            <a:p>
              <a:pPr algn="l">
                <a:lnSpc>
                  <a:spcPts val="3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349241" y="4857264"/>
            <a:ext cx="7427161" cy="5059081"/>
          </a:xfrm>
          <a:custGeom>
            <a:avLst/>
            <a:gdLst/>
            <a:ahLst/>
            <a:cxnLst/>
            <a:rect r="r" b="b" t="t" l="l"/>
            <a:pathLst>
              <a:path h="5059081" w="7427161">
                <a:moveTo>
                  <a:pt x="0" y="0"/>
                </a:moveTo>
                <a:lnTo>
                  <a:pt x="7427161" y="0"/>
                </a:lnTo>
                <a:lnTo>
                  <a:pt x="7427161" y="5059080"/>
                </a:lnTo>
                <a:lnTo>
                  <a:pt x="0" y="5059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4463" y="697527"/>
            <a:ext cx="9311729" cy="181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Number of employees in each department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2788" y="0"/>
            <a:ext cx="15047018" cy="11614891"/>
          </a:xfrm>
          <a:custGeom>
            <a:avLst/>
            <a:gdLst/>
            <a:ahLst/>
            <a:cxnLst/>
            <a:rect r="r" b="b" t="t" l="l"/>
            <a:pathLst>
              <a:path h="11614891" w="15047018">
                <a:moveTo>
                  <a:pt x="0" y="0"/>
                </a:moveTo>
                <a:lnTo>
                  <a:pt x="15047018" y="0"/>
                </a:lnTo>
                <a:lnTo>
                  <a:pt x="15047018" y="11614891"/>
                </a:lnTo>
                <a:lnTo>
                  <a:pt x="0" y="11614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298" r="0" b="-1729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2788" y="1880065"/>
            <a:ext cx="10881968" cy="4978281"/>
            <a:chOff x="0" y="0"/>
            <a:chExt cx="2866033" cy="13111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66033" cy="1311152"/>
            </a:xfrm>
            <a:custGeom>
              <a:avLst/>
              <a:gdLst/>
              <a:ahLst/>
              <a:cxnLst/>
              <a:rect r="r" b="b" t="t" l="l"/>
              <a:pathLst>
                <a:path h="1311152" w="2866033">
                  <a:moveTo>
                    <a:pt x="0" y="0"/>
                  </a:moveTo>
                  <a:lnTo>
                    <a:pt x="2866033" y="0"/>
                  </a:lnTo>
                  <a:lnTo>
                    <a:pt x="2866033" y="1311152"/>
                  </a:lnTo>
                  <a:lnTo>
                    <a:pt x="0" y="1311152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2866033" cy="1244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SELECT </a:t>
              </a:r>
            </a:p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     e.department_id, avg(e.salary) AS avg_salary</a:t>
              </a:r>
            </a:p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FROM </a:t>
              </a:r>
            </a:p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    </a:t>
              </a: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employees e</a:t>
              </a:r>
            </a:p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LEFT JOIN</a:t>
              </a: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</a:p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    </a:t>
              </a: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departments d </a:t>
              </a: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ON </a:t>
              </a: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e.department_id =   d.department_id</a:t>
              </a:r>
            </a:p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GROUP BY</a:t>
              </a: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</a:p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     </a:t>
              </a: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e.department_id</a:t>
              </a:r>
            </a:p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ORDER BY</a:t>
              </a:r>
            </a:p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     avg_salary asc;</a:t>
              </a:r>
            </a:p>
            <a:p>
              <a:pPr algn="l">
                <a:lnSpc>
                  <a:spcPts val="309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683899" y="763921"/>
            <a:ext cx="6150545" cy="7424143"/>
          </a:xfrm>
          <a:custGeom>
            <a:avLst/>
            <a:gdLst/>
            <a:ahLst/>
            <a:cxnLst/>
            <a:rect r="r" b="b" t="t" l="l"/>
            <a:pathLst>
              <a:path h="7424143" w="6150545">
                <a:moveTo>
                  <a:pt x="0" y="0"/>
                </a:moveTo>
                <a:lnTo>
                  <a:pt x="6150545" y="0"/>
                </a:lnTo>
                <a:lnTo>
                  <a:pt x="6150545" y="7424143"/>
                </a:lnTo>
                <a:lnTo>
                  <a:pt x="0" y="74241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62025"/>
            <a:ext cx="7250013" cy="128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verage salary department wise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4732" y="1810321"/>
            <a:ext cx="14404111" cy="11166120"/>
          </a:xfrm>
          <a:custGeom>
            <a:avLst/>
            <a:gdLst/>
            <a:ahLst/>
            <a:cxnLst/>
            <a:rect r="r" b="b" t="t" l="l"/>
            <a:pathLst>
              <a:path h="11166120" w="14404111">
                <a:moveTo>
                  <a:pt x="0" y="0"/>
                </a:moveTo>
                <a:lnTo>
                  <a:pt x="14404111" y="0"/>
                </a:lnTo>
                <a:lnTo>
                  <a:pt x="14404111" y="11166119"/>
                </a:lnTo>
                <a:lnTo>
                  <a:pt x="0" y="11166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012" r="0" b="-1701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4417" y="1810321"/>
            <a:ext cx="10731513" cy="5583060"/>
            <a:chOff x="0" y="0"/>
            <a:chExt cx="2826407" cy="14704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26407" cy="1470436"/>
            </a:xfrm>
            <a:custGeom>
              <a:avLst/>
              <a:gdLst/>
              <a:ahLst/>
              <a:cxnLst/>
              <a:rect r="r" b="b" t="t" l="l"/>
              <a:pathLst>
                <a:path h="1470436" w="2826407">
                  <a:moveTo>
                    <a:pt x="0" y="0"/>
                  </a:moveTo>
                  <a:lnTo>
                    <a:pt x="2826407" y="0"/>
                  </a:lnTo>
                  <a:lnTo>
                    <a:pt x="2826407" y="1470436"/>
                  </a:lnTo>
                  <a:lnTo>
                    <a:pt x="0" y="1470436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2826407" cy="1413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09"/>
                </a:lnSpc>
              </a:pP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SELECT c.country_name,</a:t>
              </a:r>
            </a:p>
            <a:p>
              <a:pPr algn="l">
                <a:lnSpc>
                  <a:spcPts val="2709"/>
                </a:lnSpc>
              </a:pP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  COUNT(e.employee_id) AS number_of_employees</a:t>
              </a:r>
            </a:p>
            <a:p>
              <a:pPr algn="l">
                <a:lnSpc>
                  <a:spcPts val="2709"/>
                </a:lnSpc>
              </a:pP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FROM</a:t>
              </a:r>
            </a:p>
            <a:p>
              <a:pPr algn="l">
                <a:lnSpc>
                  <a:spcPts val="2709"/>
                </a:lnSpc>
              </a:pP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  employees e </a:t>
              </a:r>
            </a:p>
            <a:p>
              <a:pPr algn="l">
                <a:lnSpc>
                  <a:spcPts val="2709"/>
                </a:lnSpc>
              </a:pP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JOIN </a:t>
              </a:r>
            </a:p>
            <a:p>
              <a:pPr algn="l">
                <a:lnSpc>
                  <a:spcPts val="2709"/>
                </a:lnSpc>
              </a:pP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    </a:t>
              </a: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departments d ON e.department_id = d.department_id</a:t>
              </a:r>
            </a:p>
            <a:p>
              <a:pPr algn="l">
                <a:lnSpc>
                  <a:spcPts val="2709"/>
                </a:lnSpc>
              </a:pP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JOIN</a:t>
              </a:r>
            </a:p>
            <a:p>
              <a:pPr algn="l">
                <a:lnSpc>
                  <a:spcPts val="2709"/>
                </a:lnSpc>
              </a:pP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    </a:t>
              </a: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locations l ON d.location_id = d.location_id</a:t>
              </a:r>
            </a:p>
            <a:p>
              <a:pPr algn="l">
                <a:lnSpc>
                  <a:spcPts val="2709"/>
                </a:lnSpc>
              </a:pP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JOIN </a:t>
              </a:r>
            </a:p>
            <a:p>
              <a:pPr algn="l">
                <a:lnSpc>
                  <a:spcPts val="2709"/>
                </a:lnSpc>
              </a:pP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    </a:t>
              </a: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countries c  ON l.country_id = c.country_id</a:t>
              </a:r>
            </a:p>
            <a:p>
              <a:pPr algn="l">
                <a:lnSpc>
                  <a:spcPts val="2709"/>
                </a:lnSpc>
              </a:pP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GROUP BY</a:t>
              </a: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</a:p>
            <a:p>
              <a:pPr algn="l">
                <a:lnSpc>
                  <a:spcPts val="2709"/>
                </a:lnSpc>
              </a:pP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    </a:t>
              </a:r>
              <a:r>
                <a:rPr lang="en-US" sz="27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c.country_name;</a:t>
              </a:r>
            </a:p>
            <a:p>
              <a:pPr algn="l">
                <a:lnSpc>
                  <a:spcPts val="270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574709" y="2021500"/>
            <a:ext cx="6527676" cy="7492636"/>
          </a:xfrm>
          <a:custGeom>
            <a:avLst/>
            <a:gdLst/>
            <a:ahLst/>
            <a:cxnLst/>
            <a:rect r="r" b="b" t="t" l="l"/>
            <a:pathLst>
              <a:path h="7492636" w="6527676">
                <a:moveTo>
                  <a:pt x="0" y="0"/>
                </a:moveTo>
                <a:lnTo>
                  <a:pt x="6527675" y="0"/>
                </a:lnTo>
                <a:lnTo>
                  <a:pt x="6527675" y="7492636"/>
                </a:lnTo>
                <a:lnTo>
                  <a:pt x="0" y="74926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5252" y="962025"/>
            <a:ext cx="794667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umber of employees in each country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264" y="2584145"/>
            <a:ext cx="8987736" cy="3642948"/>
            <a:chOff x="0" y="0"/>
            <a:chExt cx="2367140" cy="9594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140" cy="959459"/>
            </a:xfrm>
            <a:custGeom>
              <a:avLst/>
              <a:gdLst/>
              <a:ahLst/>
              <a:cxnLst/>
              <a:rect r="r" b="b" t="t" l="l"/>
              <a:pathLst>
                <a:path h="959459" w="2367140">
                  <a:moveTo>
                    <a:pt x="0" y="0"/>
                  </a:moveTo>
                  <a:lnTo>
                    <a:pt x="2367140" y="0"/>
                  </a:lnTo>
                  <a:lnTo>
                    <a:pt x="2367140" y="959459"/>
                  </a:lnTo>
                  <a:lnTo>
                    <a:pt x="0" y="959459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2367140" cy="89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SLECT j.job_title, COUNT(e.employee_id) AS employee_count</a:t>
              </a:r>
            </a:p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FROM </a:t>
              </a: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employees e</a:t>
              </a:r>
            </a:p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JOIN </a:t>
              </a: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jobs j ON j.job_id = e.job_id</a:t>
              </a:r>
            </a:p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GROUP BY</a:t>
              </a: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job_title</a:t>
              </a:r>
            </a:p>
            <a:p>
              <a:pPr algn="l">
                <a:lnSpc>
                  <a:spcPts val="3097"/>
                </a:lnSpc>
              </a:pP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ORDER BY</a:t>
              </a:r>
              <a:r>
                <a:rPr lang="en-US" sz="319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employee_count DESC;</a:t>
              </a:r>
            </a:p>
            <a:p>
              <a:pPr algn="l">
                <a:lnSpc>
                  <a:spcPts val="309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055507" y="1882633"/>
            <a:ext cx="6744617" cy="8146724"/>
          </a:xfrm>
          <a:custGeom>
            <a:avLst/>
            <a:gdLst/>
            <a:ahLst/>
            <a:cxnLst/>
            <a:rect r="r" b="b" t="t" l="l"/>
            <a:pathLst>
              <a:path h="8146724" w="6744617">
                <a:moveTo>
                  <a:pt x="0" y="0"/>
                </a:moveTo>
                <a:lnTo>
                  <a:pt x="6744617" y="0"/>
                </a:lnTo>
                <a:lnTo>
                  <a:pt x="6744617" y="8146724"/>
                </a:lnTo>
                <a:lnTo>
                  <a:pt x="0" y="8146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5468" y="971550"/>
            <a:ext cx="15697051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 List all job titles along with the number of employees holding each title.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208809">
            <a:off x="5302971" y="902398"/>
            <a:ext cx="10491787" cy="10900558"/>
          </a:xfrm>
          <a:custGeom>
            <a:avLst/>
            <a:gdLst/>
            <a:ahLst/>
            <a:cxnLst/>
            <a:rect r="r" b="b" t="t" l="l"/>
            <a:pathLst>
              <a:path h="10900558" w="10491787">
                <a:moveTo>
                  <a:pt x="0" y="0"/>
                </a:moveTo>
                <a:lnTo>
                  <a:pt x="10491787" y="0"/>
                </a:lnTo>
                <a:lnTo>
                  <a:pt x="10491787" y="10900557"/>
                </a:lnTo>
                <a:lnTo>
                  <a:pt x="0" y="10900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2788" y="1028700"/>
            <a:ext cx="8415505" cy="9766319"/>
            <a:chOff x="0" y="0"/>
            <a:chExt cx="2216429" cy="25721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6429" cy="2572199"/>
            </a:xfrm>
            <a:custGeom>
              <a:avLst/>
              <a:gdLst/>
              <a:ahLst/>
              <a:cxnLst/>
              <a:rect r="r" b="b" t="t" l="l"/>
              <a:pathLst>
                <a:path h="2572199" w="2216429">
                  <a:moveTo>
                    <a:pt x="0" y="0"/>
                  </a:moveTo>
                  <a:lnTo>
                    <a:pt x="2216429" y="0"/>
                  </a:lnTo>
                  <a:lnTo>
                    <a:pt x="2216429" y="2572199"/>
                  </a:lnTo>
                  <a:lnTo>
                    <a:pt x="0" y="2572199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16429" cy="261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-- department with hisghest salary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(SELECT d.department_name, round(avg(e.salary),2) AS avg_salary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FROM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employees e 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JOIN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departments d 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e.department_id = d.department_id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GROUP BY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d.department_name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ORDER BY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avg_salary desc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LIMIT 1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)</a:t>
              </a:r>
            </a:p>
            <a:p>
              <a:pPr algn="l">
                <a:lnSpc>
                  <a:spcPts val="3462"/>
                </a:lnSpc>
              </a:pP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UNION</a:t>
              </a:r>
            </a:p>
            <a:p>
              <a:pPr algn="l">
                <a:lnSpc>
                  <a:spcPts val="3462"/>
                </a:lnSpc>
              </a:pP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-- department with lowest salary 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(SELECT d.department_name, round(avg(e.salary),2) as avg_salary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FROM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employees e 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JOIN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departments d  ON e.department_id = d.department_id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GROUP BY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d.department_name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ORDER BY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avg_salary asc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LIMIT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);</a:t>
              </a:r>
            </a:p>
            <a:p>
              <a:pPr algn="l">
                <a:lnSpc>
                  <a:spcPts val="3462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918293" y="3317313"/>
            <a:ext cx="8866002" cy="2353062"/>
          </a:xfrm>
          <a:custGeom>
            <a:avLst/>
            <a:gdLst/>
            <a:ahLst/>
            <a:cxnLst/>
            <a:rect r="r" b="b" t="t" l="l"/>
            <a:pathLst>
              <a:path h="2353062" w="8866002">
                <a:moveTo>
                  <a:pt x="0" y="0"/>
                </a:moveTo>
                <a:lnTo>
                  <a:pt x="8866002" y="0"/>
                </a:lnTo>
                <a:lnTo>
                  <a:pt x="8866002" y="2353062"/>
                </a:lnTo>
                <a:lnTo>
                  <a:pt x="0" y="2353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2788" y="306043"/>
            <a:ext cx="13134826" cy="138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1"/>
              </a:lnSpc>
              <a:spcBef>
                <a:spcPct val="0"/>
              </a:spcBef>
            </a:pPr>
            <a:r>
              <a:rPr lang="en-US" sz="29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 Identify the departments with the highest and lowest average salaries.</a:t>
            </a:r>
          </a:p>
          <a:p>
            <a:pPr algn="l">
              <a:lnSpc>
                <a:spcPts val="3462"/>
              </a:lnSpc>
              <a:spcBef>
                <a:spcPct val="0"/>
              </a:spcBef>
            </a:pPr>
          </a:p>
          <a:p>
            <a:pPr algn="l">
              <a:lnSpc>
                <a:spcPts val="346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24562" y="1028700"/>
            <a:ext cx="12238876" cy="12715715"/>
          </a:xfrm>
          <a:custGeom>
            <a:avLst/>
            <a:gdLst/>
            <a:ahLst/>
            <a:cxnLst/>
            <a:rect r="r" b="b" t="t" l="l"/>
            <a:pathLst>
              <a:path h="12715715" w="12238876">
                <a:moveTo>
                  <a:pt x="0" y="0"/>
                </a:moveTo>
                <a:lnTo>
                  <a:pt x="12238876" y="0"/>
                </a:lnTo>
                <a:lnTo>
                  <a:pt x="12238876" y="12715715"/>
                </a:lnTo>
                <a:lnTo>
                  <a:pt x="0" y="12715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3404" y="1389740"/>
            <a:ext cx="9569701" cy="6158219"/>
            <a:chOff x="0" y="0"/>
            <a:chExt cx="2520415" cy="16219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20415" cy="1621918"/>
            </a:xfrm>
            <a:custGeom>
              <a:avLst/>
              <a:gdLst/>
              <a:ahLst/>
              <a:cxnLst/>
              <a:rect r="r" b="b" t="t" l="l"/>
              <a:pathLst>
                <a:path h="1621918" w="2520415">
                  <a:moveTo>
                    <a:pt x="0" y="0"/>
                  </a:moveTo>
                  <a:lnTo>
                    <a:pt x="2520415" y="0"/>
                  </a:lnTo>
                  <a:lnTo>
                    <a:pt x="2520415" y="1621918"/>
                  </a:lnTo>
                  <a:lnTo>
                    <a:pt x="0" y="1621918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20415" cy="1660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SELECT CONCAT(e.first_name," ",e.last_name) AS full_name,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ROUND(CASE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WHEN MAX(jh.end_date) IS NOT NULL  THEN   DATEDIFF(MAX (jh.end_date),e.hire_date)/365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ELSEdatediff(curdate() ,e.hire_date)/365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END, 2) AS tenure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FROM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employees e 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LEFT JOIN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job_history jh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e.employee_id = jh.employee_id AND e.job_id = jh.job_id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GROUP BY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e.employee_id, full_name, e.hire_date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ORDER BY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tenure desc;</a:t>
              </a:r>
            </a:p>
            <a:p>
              <a:pPr algn="l">
                <a:lnSpc>
                  <a:spcPts val="3462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0279" y="1973015"/>
            <a:ext cx="3715288" cy="7285285"/>
          </a:xfrm>
          <a:custGeom>
            <a:avLst/>
            <a:gdLst/>
            <a:ahLst/>
            <a:cxnLst/>
            <a:rect r="r" b="b" t="t" l="l"/>
            <a:pathLst>
              <a:path h="7285285" w="3715288">
                <a:moveTo>
                  <a:pt x="0" y="0"/>
                </a:moveTo>
                <a:lnTo>
                  <a:pt x="3715288" y="0"/>
                </a:lnTo>
                <a:lnTo>
                  <a:pt x="3715288" y="7285285"/>
                </a:lnTo>
                <a:lnTo>
                  <a:pt x="0" y="7285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71903" y="1973015"/>
            <a:ext cx="3832015" cy="7285285"/>
          </a:xfrm>
          <a:custGeom>
            <a:avLst/>
            <a:gdLst/>
            <a:ahLst/>
            <a:cxnLst/>
            <a:rect r="r" b="b" t="t" l="l"/>
            <a:pathLst>
              <a:path h="7285285" w="3832015">
                <a:moveTo>
                  <a:pt x="0" y="0"/>
                </a:moveTo>
                <a:lnTo>
                  <a:pt x="3832016" y="0"/>
                </a:lnTo>
                <a:lnTo>
                  <a:pt x="3832016" y="7285285"/>
                </a:lnTo>
                <a:lnTo>
                  <a:pt x="0" y="72852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405130"/>
            <a:ext cx="1567085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 Calculate the tenure (in years) of each employee based on their hire date.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91752" y="1028700"/>
            <a:ext cx="15108659" cy="13615060"/>
          </a:xfrm>
          <a:custGeom>
            <a:avLst/>
            <a:gdLst/>
            <a:ahLst/>
            <a:cxnLst/>
            <a:rect r="r" b="b" t="t" l="l"/>
            <a:pathLst>
              <a:path h="13615060" w="15108659">
                <a:moveTo>
                  <a:pt x="0" y="0"/>
                </a:moveTo>
                <a:lnTo>
                  <a:pt x="15108660" y="0"/>
                </a:lnTo>
                <a:lnTo>
                  <a:pt x="15108660" y="13615060"/>
                </a:lnTo>
                <a:lnTo>
                  <a:pt x="0" y="13615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46" r="0" b="-764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1457" y="1302754"/>
            <a:ext cx="7272993" cy="6529874"/>
            <a:chOff x="0" y="0"/>
            <a:chExt cx="1915521" cy="17198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5521" cy="1719802"/>
            </a:xfrm>
            <a:custGeom>
              <a:avLst/>
              <a:gdLst/>
              <a:ahLst/>
              <a:cxnLst/>
              <a:rect r="r" b="b" t="t" l="l"/>
              <a:pathLst>
                <a:path h="1719802" w="1915521">
                  <a:moveTo>
                    <a:pt x="0" y="0"/>
                  </a:moveTo>
                  <a:lnTo>
                    <a:pt x="1915521" y="0"/>
                  </a:lnTo>
                  <a:lnTo>
                    <a:pt x="1915521" y="1719802"/>
                  </a:lnTo>
                  <a:lnTo>
                    <a:pt x="0" y="1719802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915521" cy="1776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SELECT j.job_title,</a:t>
              </a: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COUNT (e.employee_id) AS employee_count,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MIN (e.salary) AS min_salary,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MAX (e.salary) AS max_salary,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FLOOR(AVG(e.salary)) AS avg_salary,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ROUND(STDDEV(e.salary),2) AS std_deviation_slary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FROM </a:t>
              </a: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employees e 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LEFT JOIN </a:t>
              </a: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jobs j 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 </a:t>
              </a: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e.job_id = j.job_id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GROUP BY </a:t>
              </a: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j.job_title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ORDER BY</a:t>
              </a: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avg_salary desc;</a:t>
              </a:r>
            </a:p>
            <a:p>
              <a:pPr algn="l">
                <a:lnSpc>
                  <a:spcPts val="3602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444450" y="1686084"/>
            <a:ext cx="10659190" cy="5991440"/>
          </a:xfrm>
          <a:custGeom>
            <a:avLst/>
            <a:gdLst/>
            <a:ahLst/>
            <a:cxnLst/>
            <a:rect r="r" b="b" t="t" l="l"/>
            <a:pathLst>
              <a:path h="5991440" w="10659190">
                <a:moveTo>
                  <a:pt x="0" y="0"/>
                </a:moveTo>
                <a:lnTo>
                  <a:pt x="10659191" y="0"/>
                </a:lnTo>
                <a:lnTo>
                  <a:pt x="10659191" y="5991440"/>
                </a:lnTo>
                <a:lnTo>
                  <a:pt x="0" y="5991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288000" y="4681804"/>
            <a:ext cx="9391586" cy="5375447"/>
          </a:xfrm>
          <a:custGeom>
            <a:avLst/>
            <a:gdLst/>
            <a:ahLst/>
            <a:cxnLst/>
            <a:rect r="r" b="b" t="t" l="l"/>
            <a:pathLst>
              <a:path h="5375447" w="9391586">
                <a:moveTo>
                  <a:pt x="0" y="0"/>
                </a:moveTo>
                <a:lnTo>
                  <a:pt x="9391586" y="0"/>
                </a:lnTo>
                <a:lnTo>
                  <a:pt x="9391586" y="5375447"/>
                </a:lnTo>
                <a:lnTo>
                  <a:pt x="0" y="53754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405130"/>
            <a:ext cx="1532200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 Create a report showing the distribution of salaries within each job title.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2146" y="-638523"/>
            <a:ext cx="17344079" cy="13433395"/>
          </a:xfrm>
          <a:custGeom>
            <a:avLst/>
            <a:gdLst/>
            <a:ahLst/>
            <a:cxnLst/>
            <a:rect r="r" b="b" t="t" l="l"/>
            <a:pathLst>
              <a:path h="13433395" w="17344079">
                <a:moveTo>
                  <a:pt x="0" y="0"/>
                </a:moveTo>
                <a:lnTo>
                  <a:pt x="17344078" y="0"/>
                </a:lnTo>
                <a:lnTo>
                  <a:pt x="17344078" y="13433395"/>
                </a:lnTo>
                <a:lnTo>
                  <a:pt x="0" y="134333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75" t="0" r="-1175" b="-3729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4970" y="6674919"/>
            <a:ext cx="12521804" cy="1834002"/>
          </a:xfrm>
          <a:custGeom>
            <a:avLst/>
            <a:gdLst/>
            <a:ahLst/>
            <a:cxnLst/>
            <a:rect r="r" b="b" t="t" l="l"/>
            <a:pathLst>
              <a:path h="1834002" w="12521804">
                <a:moveTo>
                  <a:pt x="0" y="0"/>
                </a:moveTo>
                <a:lnTo>
                  <a:pt x="12521803" y="0"/>
                </a:lnTo>
                <a:lnTo>
                  <a:pt x="12521803" y="1834001"/>
                </a:lnTo>
                <a:lnTo>
                  <a:pt x="0" y="1834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87558" y="1790170"/>
            <a:ext cx="15559663" cy="3091777"/>
            <a:chOff x="0" y="0"/>
            <a:chExt cx="4098018" cy="8142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98018" cy="814295"/>
            </a:xfrm>
            <a:custGeom>
              <a:avLst/>
              <a:gdLst/>
              <a:ahLst/>
              <a:cxnLst/>
              <a:rect r="r" b="b" t="t" l="l"/>
              <a:pathLst>
                <a:path h="814295" w="4098018">
                  <a:moveTo>
                    <a:pt x="0" y="0"/>
                  </a:moveTo>
                  <a:lnTo>
                    <a:pt x="4098018" y="0"/>
                  </a:lnTo>
                  <a:lnTo>
                    <a:pt x="4098018" y="814295"/>
                  </a:lnTo>
                  <a:lnTo>
                    <a:pt x="0" y="814295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4098018" cy="880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581"/>
                </a:lnSpc>
              </a:pPr>
              <a:r>
                <a:rPr lang="en-US" sz="32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SELECT employee_id, first_name, last_name, manager_id,   department_id</a:t>
              </a:r>
            </a:p>
            <a:p>
              <a:pPr algn="l">
                <a:lnSpc>
                  <a:spcPts val="4581"/>
                </a:lnSpc>
              </a:pPr>
              <a:r>
                <a:rPr lang="en-US" sz="32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FROM </a:t>
              </a:r>
              <a:r>
                <a:rPr lang="en-US" sz="32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employees </a:t>
              </a:r>
            </a:p>
            <a:p>
              <a:pPr algn="l">
                <a:lnSpc>
                  <a:spcPts val="4581"/>
                </a:lnSpc>
              </a:pPr>
              <a:r>
                <a:rPr lang="en-US" sz="32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WHERE </a:t>
              </a:r>
              <a:r>
                <a:rPr lang="en-US" sz="32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manager_id IS NULL;</a:t>
              </a:r>
            </a:p>
            <a:p>
              <a:pPr algn="l">
                <a:lnSpc>
                  <a:spcPts val="458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40550" y="609705"/>
            <a:ext cx="1009411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 List all employees who do not have a manager.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85197" y="-282816"/>
            <a:ext cx="13406071" cy="11640196"/>
          </a:xfrm>
          <a:custGeom>
            <a:avLst/>
            <a:gdLst/>
            <a:ahLst/>
            <a:cxnLst/>
            <a:rect r="r" b="b" t="t" l="l"/>
            <a:pathLst>
              <a:path h="11640196" w="13406071">
                <a:moveTo>
                  <a:pt x="0" y="0"/>
                </a:moveTo>
                <a:lnTo>
                  <a:pt x="13406071" y="0"/>
                </a:lnTo>
                <a:lnTo>
                  <a:pt x="13406071" y="11640196"/>
                </a:lnTo>
                <a:lnTo>
                  <a:pt x="0" y="11640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32" t="0" r="-2532" b="-257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41402" y="442707"/>
            <a:ext cx="3507668" cy="5370147"/>
          </a:xfrm>
          <a:custGeom>
            <a:avLst/>
            <a:gdLst/>
            <a:ahLst/>
            <a:cxnLst/>
            <a:rect r="r" b="b" t="t" l="l"/>
            <a:pathLst>
              <a:path h="5370147" w="3507668">
                <a:moveTo>
                  <a:pt x="0" y="0"/>
                </a:moveTo>
                <a:lnTo>
                  <a:pt x="3507668" y="0"/>
                </a:lnTo>
                <a:lnTo>
                  <a:pt x="3507668" y="5370146"/>
                </a:lnTo>
                <a:lnTo>
                  <a:pt x="0" y="537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41402" y="5889123"/>
            <a:ext cx="3436181" cy="5448801"/>
          </a:xfrm>
          <a:custGeom>
            <a:avLst/>
            <a:gdLst/>
            <a:ahLst/>
            <a:cxnLst/>
            <a:rect r="r" b="b" t="t" l="l"/>
            <a:pathLst>
              <a:path h="5448801" w="3436181">
                <a:moveTo>
                  <a:pt x="0" y="0"/>
                </a:moveTo>
                <a:lnTo>
                  <a:pt x="3436181" y="0"/>
                </a:lnTo>
                <a:lnTo>
                  <a:pt x="3436181" y="5448801"/>
                </a:lnTo>
                <a:lnTo>
                  <a:pt x="0" y="54488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56848" y="1444712"/>
            <a:ext cx="12155966" cy="6448259"/>
            <a:chOff x="0" y="0"/>
            <a:chExt cx="3201571" cy="16983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1571" cy="1698307"/>
            </a:xfrm>
            <a:custGeom>
              <a:avLst/>
              <a:gdLst/>
              <a:ahLst/>
              <a:cxnLst/>
              <a:rect r="r" b="b" t="t" l="l"/>
              <a:pathLst>
                <a:path h="1698307" w="3201571">
                  <a:moveTo>
                    <a:pt x="0" y="0"/>
                  </a:moveTo>
                  <a:lnTo>
                    <a:pt x="3201571" y="0"/>
                  </a:lnTo>
                  <a:lnTo>
                    <a:pt x="3201571" y="1698307"/>
                  </a:lnTo>
                  <a:lnTo>
                    <a:pt x="0" y="1698307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201571" cy="1745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881"/>
                </a:lnSpc>
              </a:pP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WITH location_counts AS(</a:t>
              </a:r>
            </a:p>
            <a:p>
              <a:pPr algn="l">
                <a:lnSpc>
                  <a:spcPts val="3881"/>
                </a:lnSpc>
              </a:pP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</a:t>
              </a: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SELECT d.department_id, d.department_name,</a:t>
              </a:r>
            </a:p>
            <a:p>
              <a:pPr algn="l">
                <a:lnSpc>
                  <a:spcPts val="3881"/>
                </a:lnSpc>
              </a:pP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 COUNT(distinct d.location_id) as location_count</a:t>
              </a:r>
            </a:p>
            <a:p>
              <a:pPr algn="l">
                <a:lnSpc>
                  <a:spcPts val="3881"/>
                </a:lnSpc>
              </a:pP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FROM </a:t>
              </a: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departments d</a:t>
              </a:r>
            </a:p>
            <a:p>
              <a:pPr algn="l">
                <a:lnSpc>
                  <a:spcPts val="3881"/>
                </a:lnSpc>
              </a:pP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JOIN </a:t>
              </a: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locations l </a:t>
              </a:r>
            </a:p>
            <a:p>
              <a:pPr algn="l">
                <a:lnSpc>
                  <a:spcPts val="3881"/>
                </a:lnSpc>
              </a:pP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ON </a:t>
              </a: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d.location_id = l.location_id </a:t>
              </a:r>
            </a:p>
            <a:p>
              <a:pPr algn="l">
                <a:lnSpc>
                  <a:spcPts val="3881"/>
                </a:lnSpc>
              </a:pP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GROUP BY</a:t>
              </a: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d.department_id</a:t>
              </a:r>
            </a:p>
            <a:p>
              <a:pPr algn="l">
                <a:lnSpc>
                  <a:spcPts val="3881"/>
                </a:lnSpc>
              </a:pP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)</a:t>
              </a:r>
            </a:p>
            <a:p>
              <a:pPr algn="l">
                <a:lnSpc>
                  <a:spcPts val="3881"/>
                </a:lnSpc>
              </a:pP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SELECT </a:t>
              </a: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department_name, location_count</a:t>
              </a:r>
            </a:p>
            <a:p>
              <a:pPr algn="l">
                <a:lnSpc>
                  <a:spcPts val="3881"/>
                </a:lnSpc>
              </a:pP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FROM </a:t>
              </a: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location_counts </a:t>
              </a:r>
            </a:p>
            <a:p>
              <a:pPr algn="l">
                <a:lnSpc>
                  <a:spcPts val="3881"/>
                </a:lnSpc>
              </a:pP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WHERE </a:t>
              </a:r>
              <a:r>
                <a:rPr lang="en-US" sz="2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location_count = (select max(location_count) FROM    location_counts);</a:t>
              </a:r>
            </a:p>
            <a:p>
              <a:pPr algn="l">
                <a:lnSpc>
                  <a:spcPts val="388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56848" y="629373"/>
            <a:ext cx="12935843" cy="815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  Find the department(s) that have the most number of locations associated with them.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64466" y="0"/>
            <a:ext cx="11053285" cy="11483933"/>
          </a:xfrm>
          <a:custGeom>
            <a:avLst/>
            <a:gdLst/>
            <a:ahLst/>
            <a:cxnLst/>
            <a:rect r="r" b="b" t="t" l="l"/>
            <a:pathLst>
              <a:path h="11483933" w="11053285">
                <a:moveTo>
                  <a:pt x="0" y="0"/>
                </a:moveTo>
                <a:lnTo>
                  <a:pt x="11053285" y="0"/>
                </a:lnTo>
                <a:lnTo>
                  <a:pt x="11053285" y="11483933"/>
                </a:lnTo>
                <a:lnTo>
                  <a:pt x="0" y="11483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21547" y="6875665"/>
            <a:ext cx="8849786" cy="2382635"/>
          </a:xfrm>
          <a:custGeom>
            <a:avLst/>
            <a:gdLst/>
            <a:ahLst/>
            <a:cxnLst/>
            <a:rect r="r" b="b" t="t" l="l"/>
            <a:pathLst>
              <a:path h="2382635" w="8849786">
                <a:moveTo>
                  <a:pt x="0" y="0"/>
                </a:moveTo>
                <a:lnTo>
                  <a:pt x="8849786" y="0"/>
                </a:lnTo>
                <a:lnTo>
                  <a:pt x="8849786" y="2382635"/>
                </a:lnTo>
                <a:lnTo>
                  <a:pt x="0" y="2382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845720" y="838972"/>
            <a:ext cx="13001440" cy="5761154"/>
            <a:chOff x="0" y="0"/>
            <a:chExt cx="3424247" cy="15173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24248" cy="1517341"/>
            </a:xfrm>
            <a:custGeom>
              <a:avLst/>
              <a:gdLst/>
              <a:ahLst/>
              <a:cxnLst/>
              <a:rect r="r" b="b" t="t" l="l"/>
              <a:pathLst>
                <a:path h="1517341" w="3424248">
                  <a:moveTo>
                    <a:pt x="0" y="0"/>
                  </a:moveTo>
                  <a:lnTo>
                    <a:pt x="3424248" y="0"/>
                  </a:lnTo>
                  <a:lnTo>
                    <a:pt x="3424248" y="1517341"/>
                  </a:lnTo>
                  <a:lnTo>
                    <a:pt x="0" y="1517341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3424247" cy="1584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441"/>
                </a:lnSpc>
              </a:pP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SELECT  c.country_name,</a:t>
              </a: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  <a:p>
              <a:pPr algn="l">
                <a:lnSpc>
                  <a:spcPts val="4441"/>
                </a:lnSpc>
              </a:pP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</a:t>
              </a: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COUNT (e.employee_id) ASnum_employees</a:t>
              </a:r>
            </a:p>
            <a:p>
              <a:pPr algn="l">
                <a:lnSpc>
                  <a:spcPts val="4441"/>
                </a:lnSpc>
              </a:pP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FROM </a:t>
              </a: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employees e</a:t>
              </a:r>
            </a:p>
            <a:p>
              <a:pPr algn="l">
                <a:lnSpc>
                  <a:spcPts val="4441"/>
                </a:lnSpc>
              </a:pP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JOIN </a:t>
              </a: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departments d ON e.department_id = d.department_id</a:t>
              </a:r>
            </a:p>
            <a:p>
              <a:pPr algn="l">
                <a:lnSpc>
                  <a:spcPts val="4441"/>
                </a:lnSpc>
              </a:pP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JOIN </a:t>
              </a: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locations l ON d.location_id = d.location_id</a:t>
              </a:r>
            </a:p>
            <a:p>
              <a:pPr algn="l">
                <a:lnSpc>
                  <a:spcPts val="4441"/>
                </a:lnSpc>
              </a:pP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JOIN </a:t>
              </a: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countries c ON l.country_id = c.country_id</a:t>
              </a:r>
            </a:p>
            <a:p>
              <a:pPr algn="l">
                <a:lnSpc>
                  <a:spcPts val="4441"/>
                </a:lnSpc>
              </a:pP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GROUP BY</a:t>
              </a: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c.country_name</a:t>
              </a:r>
            </a:p>
            <a:p>
              <a:pPr algn="l">
                <a:lnSpc>
                  <a:spcPts val="4441"/>
                </a:lnSpc>
              </a:pP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ORDER BY</a:t>
              </a: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num_employees </a:t>
              </a:r>
            </a:p>
            <a:p>
              <a:pPr algn="l">
                <a:lnSpc>
                  <a:spcPts val="4441"/>
                </a:lnSpc>
              </a:pP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LIMIT </a:t>
              </a:r>
              <a:r>
                <a:rPr lang="en-US" sz="31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1;</a:t>
              </a:r>
            </a:p>
            <a:p>
              <a:pPr algn="l">
                <a:lnSpc>
                  <a:spcPts val="444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80301" y="170663"/>
            <a:ext cx="15879969" cy="126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5"/>
              </a:lnSpc>
              <a:spcBef>
                <a:spcPct val="0"/>
              </a:spcBef>
            </a:pPr>
            <a:r>
              <a:rPr lang="en-US" sz="365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 Determine which country has the highest number of employees.</a:t>
            </a:r>
          </a:p>
          <a:p>
            <a:pPr algn="l">
              <a:lnSpc>
                <a:spcPts val="51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0000" y="-2135770"/>
            <a:ext cx="19348243" cy="13644360"/>
          </a:xfrm>
          <a:custGeom>
            <a:avLst/>
            <a:gdLst/>
            <a:ahLst/>
            <a:cxnLst/>
            <a:rect r="r" b="b" t="t" l="l"/>
            <a:pathLst>
              <a:path h="13644360" w="19348243">
                <a:moveTo>
                  <a:pt x="0" y="0"/>
                </a:moveTo>
                <a:lnTo>
                  <a:pt x="19348243" y="0"/>
                </a:lnTo>
                <a:lnTo>
                  <a:pt x="19348243" y="13644360"/>
                </a:lnTo>
                <a:lnTo>
                  <a:pt x="0" y="13644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99" r="-568" b="-448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92145" y="1708783"/>
            <a:ext cx="7834208" cy="5386018"/>
          </a:xfrm>
          <a:custGeom>
            <a:avLst/>
            <a:gdLst/>
            <a:ahLst/>
            <a:cxnLst/>
            <a:rect r="r" b="b" t="t" l="l"/>
            <a:pathLst>
              <a:path h="5386018" w="7834208">
                <a:moveTo>
                  <a:pt x="0" y="0"/>
                </a:moveTo>
                <a:lnTo>
                  <a:pt x="7834208" y="0"/>
                </a:lnTo>
                <a:lnTo>
                  <a:pt x="7834208" y="5386018"/>
                </a:lnTo>
                <a:lnTo>
                  <a:pt x="0" y="5386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61647" y="1708783"/>
            <a:ext cx="9505647" cy="8358674"/>
            <a:chOff x="0" y="0"/>
            <a:chExt cx="2503545" cy="22014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03545" cy="2201462"/>
            </a:xfrm>
            <a:custGeom>
              <a:avLst/>
              <a:gdLst/>
              <a:ahLst/>
              <a:cxnLst/>
              <a:rect r="r" b="b" t="t" l="l"/>
              <a:pathLst>
                <a:path h="2201462" w="2503545">
                  <a:moveTo>
                    <a:pt x="0" y="0"/>
                  </a:moveTo>
                  <a:lnTo>
                    <a:pt x="2503545" y="0"/>
                  </a:lnTo>
                  <a:lnTo>
                    <a:pt x="2503545" y="2201462"/>
                  </a:lnTo>
                  <a:lnTo>
                    <a:pt x="0" y="2201462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503545" cy="2258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-- using common table expression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WITH </a:t>
              </a: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SalaryData as (  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SELECT </a:t>
              </a: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e.job_id, j.job_title, r.region_name,     c.country_name, e.salary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FROM employees e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JOIN departments d ON e.department_id = d.department_id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JOIN locations l ON d.location_id = l.location_id 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JOIN countries c ON l.country_id = c.country_id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JOIN regions r ON c.region_id = r.region_id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JOIN jobs j ON e.job_id = j.job_id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)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SELECT </a:t>
              </a: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job_title, region_name, country_name,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AVG(salary) AS avg_salary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FROM </a:t>
              </a: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SalaryData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GROUP BY</a:t>
              </a: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job_title, region_name, country_name</a:t>
              </a:r>
            </a:p>
            <a:p>
              <a:pPr algn="l">
                <a:lnSpc>
                  <a:spcPts val="3602"/>
                </a:lnSpc>
              </a:pP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ORDER BY</a:t>
              </a:r>
              <a:r>
                <a:rPr lang="en-US" sz="25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job_title, region_name, avg_salary DESC;</a:t>
              </a:r>
            </a:p>
            <a:p>
              <a:pPr algn="l">
                <a:lnSpc>
                  <a:spcPts val="3602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1647" y="291467"/>
            <a:ext cx="17564707" cy="141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 Compare average salaries for the same job title across different regions and countries. Identify any significant disparities.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06268" y="-1508358"/>
            <a:ext cx="11353032" cy="11795358"/>
          </a:xfrm>
          <a:custGeom>
            <a:avLst/>
            <a:gdLst/>
            <a:ahLst/>
            <a:cxnLst/>
            <a:rect r="r" b="b" t="t" l="l"/>
            <a:pathLst>
              <a:path h="11795358" w="11353032">
                <a:moveTo>
                  <a:pt x="0" y="0"/>
                </a:moveTo>
                <a:lnTo>
                  <a:pt x="11353032" y="0"/>
                </a:lnTo>
                <a:lnTo>
                  <a:pt x="11353032" y="11795358"/>
                </a:lnTo>
                <a:lnTo>
                  <a:pt x="0" y="11795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9597" y="3331062"/>
            <a:ext cx="8014449" cy="3260472"/>
          </a:xfrm>
          <a:custGeom>
            <a:avLst/>
            <a:gdLst/>
            <a:ahLst/>
            <a:cxnLst/>
            <a:rect r="r" b="b" t="t" l="l"/>
            <a:pathLst>
              <a:path h="3260472" w="8014449">
                <a:moveTo>
                  <a:pt x="0" y="0"/>
                </a:moveTo>
                <a:lnTo>
                  <a:pt x="8014449" y="0"/>
                </a:lnTo>
                <a:lnTo>
                  <a:pt x="8014449" y="3260472"/>
                </a:lnTo>
                <a:lnTo>
                  <a:pt x="0" y="3260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3806" y="1762125"/>
            <a:ext cx="8966710" cy="7575569"/>
            <a:chOff x="0" y="0"/>
            <a:chExt cx="2361603" cy="19952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1603" cy="1995212"/>
            </a:xfrm>
            <a:custGeom>
              <a:avLst/>
              <a:gdLst/>
              <a:ahLst/>
              <a:cxnLst/>
              <a:rect r="r" b="b" t="t" l="l"/>
              <a:pathLst>
                <a:path h="1995212" w="2361603">
                  <a:moveTo>
                    <a:pt x="0" y="0"/>
                  </a:moveTo>
                  <a:lnTo>
                    <a:pt x="2361603" y="0"/>
                  </a:lnTo>
                  <a:lnTo>
                    <a:pt x="2361603" y="1995212"/>
                  </a:lnTo>
                  <a:lnTo>
                    <a:pt x="0" y="1995212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61603" cy="2033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-- average turnover rate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WITH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AnnualDepartures AS (   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SELECT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year(jh.end_date) AS year_of_departure, 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 </a:t>
              </a:r>
              <a:r>
                <a:rPr lang="en-US" sz="2472" u="sng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COUNT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(distinct jh.employee_id) AS num_departures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FROM job_history jh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WHERE jh.end_date IS NOT NULL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GROUP BY 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jh.end_date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)</a:t>
              </a:r>
            </a:p>
            <a:p>
              <a:pPr algn="l">
                <a:lnSpc>
                  <a:spcPts val="3462"/>
                </a:lnSpc>
              </a:pP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-- Annual employees each year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, AnnualAvgEmployees AS(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SELECT YEAR (hire_date) AS year_of_hire_date,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COUNT (distinct employee_id) AS num_hired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FROM employees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GROUP BY year_of_hire_date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)</a:t>
              </a:r>
            </a:p>
            <a:p>
              <a:pPr algn="l">
                <a:lnSpc>
                  <a:spcPts val="3462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43806" y="16510"/>
            <a:ext cx="15204281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-- /*Analyze historical job history data to understand employee turnover patterns.*/ --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2572" y="-729339"/>
            <a:ext cx="16387776" cy="11254414"/>
          </a:xfrm>
          <a:custGeom>
            <a:avLst/>
            <a:gdLst/>
            <a:ahLst/>
            <a:cxnLst/>
            <a:rect r="r" b="b" t="t" l="l"/>
            <a:pathLst>
              <a:path h="11254414" w="16387776">
                <a:moveTo>
                  <a:pt x="0" y="0"/>
                </a:moveTo>
                <a:lnTo>
                  <a:pt x="16387776" y="0"/>
                </a:lnTo>
                <a:lnTo>
                  <a:pt x="16387776" y="11254414"/>
                </a:lnTo>
                <a:lnTo>
                  <a:pt x="0" y="11254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642" r="0" b="-2564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90681" y="1028700"/>
            <a:ext cx="6301005" cy="2621348"/>
          </a:xfrm>
          <a:custGeom>
            <a:avLst/>
            <a:gdLst/>
            <a:ahLst/>
            <a:cxnLst/>
            <a:rect r="r" b="b" t="t" l="l"/>
            <a:pathLst>
              <a:path h="2621348" w="6301005">
                <a:moveTo>
                  <a:pt x="0" y="0"/>
                </a:moveTo>
                <a:lnTo>
                  <a:pt x="6301005" y="0"/>
                </a:lnTo>
                <a:lnTo>
                  <a:pt x="6301005" y="2621348"/>
                </a:lnTo>
                <a:lnTo>
                  <a:pt x="0" y="2621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97520" y="6032276"/>
            <a:ext cx="4690480" cy="2221806"/>
          </a:xfrm>
          <a:custGeom>
            <a:avLst/>
            <a:gdLst/>
            <a:ahLst/>
            <a:cxnLst/>
            <a:rect r="r" b="b" t="t" l="l"/>
            <a:pathLst>
              <a:path h="2221806" w="4690480">
                <a:moveTo>
                  <a:pt x="0" y="0"/>
                </a:moveTo>
                <a:lnTo>
                  <a:pt x="4690480" y="0"/>
                </a:lnTo>
                <a:lnTo>
                  <a:pt x="4690480" y="2221806"/>
                </a:lnTo>
                <a:lnTo>
                  <a:pt x="0" y="2221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57830" y="361389"/>
            <a:ext cx="10873450" cy="4536479"/>
            <a:chOff x="0" y="0"/>
            <a:chExt cx="2863789" cy="11947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63789" cy="1194793"/>
            </a:xfrm>
            <a:custGeom>
              <a:avLst/>
              <a:gdLst/>
              <a:ahLst/>
              <a:cxnLst/>
              <a:rect r="r" b="b" t="t" l="l"/>
              <a:pathLst>
                <a:path h="1194793" w="2863789">
                  <a:moveTo>
                    <a:pt x="0" y="0"/>
                  </a:moveTo>
                  <a:lnTo>
                    <a:pt x="2863789" y="0"/>
                  </a:lnTo>
                  <a:lnTo>
                    <a:pt x="2863789" y="1194793"/>
                  </a:lnTo>
                  <a:lnTo>
                    <a:pt x="0" y="1194793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63789" cy="1232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-- </a:t>
              </a:r>
              <a:r>
                <a:rPr lang="en-US" sz="247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combine ctes to calculate turnover rate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SELECT  a.year_of_departure, a.num_departures,            COALESCE(b.num_hired, 0) ASnum_hired, 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ROUND (a.num_departures/nullif(b.num_hired,0) *100,2) AS turnover_rate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FROM AnnualDepartures a 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LEFT JOIN  AnnualAvgEmployees b ON a.year_of_departure = b.year_of_hire_date 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ORDER BY  a.year_of_departure;</a:t>
              </a:r>
            </a:p>
            <a:p>
              <a:pPr algn="l">
                <a:lnSpc>
                  <a:spcPts val="346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7830" y="5143500"/>
            <a:ext cx="12213640" cy="3323651"/>
            <a:chOff x="0" y="0"/>
            <a:chExt cx="3216761" cy="875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16761" cy="875365"/>
            </a:xfrm>
            <a:custGeom>
              <a:avLst/>
              <a:gdLst/>
              <a:ahLst/>
              <a:cxnLst/>
              <a:rect r="r" b="b" t="t" l="l"/>
              <a:pathLst>
                <a:path h="875365" w="3216761">
                  <a:moveTo>
                    <a:pt x="0" y="0"/>
                  </a:moveTo>
                  <a:lnTo>
                    <a:pt x="3216761" y="0"/>
                  </a:lnTo>
                  <a:lnTo>
                    <a:pt x="3216761" y="875365"/>
                  </a:lnTo>
                  <a:lnTo>
                    <a:pt x="0" y="875365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216761" cy="913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-- step-2 average tenure of departed employees SELECT</a:t>
              </a: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ROUND(AVG(DATEDIFF(jh.end_date, e.hire_date) / 365.25), 2) AS avg_tenure 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FROM employees e 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JOIN job_history jh ON e.employee_id = jh.employee_id</a:t>
              </a:r>
            </a:p>
            <a:p>
              <a:pPr algn="l">
                <a:lnSpc>
                  <a:spcPts val="3462"/>
                </a:lnSpc>
              </a:pPr>
              <a:r>
                <a:rPr lang="en-US" sz="24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WHERE jh.end_date IS NOT NULL;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6348" y="0"/>
            <a:ext cx="9694215" cy="10071912"/>
          </a:xfrm>
          <a:custGeom>
            <a:avLst/>
            <a:gdLst/>
            <a:ahLst/>
            <a:cxnLst/>
            <a:rect r="r" b="b" t="t" l="l"/>
            <a:pathLst>
              <a:path h="10071912" w="9694215">
                <a:moveTo>
                  <a:pt x="0" y="0"/>
                </a:moveTo>
                <a:lnTo>
                  <a:pt x="9694216" y="0"/>
                </a:lnTo>
                <a:lnTo>
                  <a:pt x="9694216" y="10071912"/>
                </a:lnTo>
                <a:lnTo>
                  <a:pt x="0" y="10071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4690" y="3607560"/>
            <a:ext cx="7997800" cy="2556198"/>
          </a:xfrm>
          <a:custGeom>
            <a:avLst/>
            <a:gdLst/>
            <a:ahLst/>
            <a:cxnLst/>
            <a:rect r="r" b="b" t="t" l="l"/>
            <a:pathLst>
              <a:path h="2556198" w="7997800">
                <a:moveTo>
                  <a:pt x="0" y="0"/>
                </a:moveTo>
                <a:lnTo>
                  <a:pt x="7997800" y="0"/>
                </a:lnTo>
                <a:lnTo>
                  <a:pt x="7997800" y="2556198"/>
                </a:lnTo>
                <a:lnTo>
                  <a:pt x="0" y="25561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663673" y="433138"/>
            <a:ext cx="9207559" cy="9420724"/>
            <a:chOff x="0" y="0"/>
            <a:chExt cx="2425036" cy="24811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25036" cy="2481178"/>
            </a:xfrm>
            <a:custGeom>
              <a:avLst/>
              <a:gdLst/>
              <a:ahLst/>
              <a:cxnLst/>
              <a:rect r="r" b="b" t="t" l="l"/>
              <a:pathLst>
                <a:path h="2481178" w="2425036">
                  <a:moveTo>
                    <a:pt x="0" y="0"/>
                  </a:moveTo>
                  <a:lnTo>
                    <a:pt x="2425036" y="0"/>
                  </a:lnTo>
                  <a:lnTo>
                    <a:pt x="2425036" y="2481178"/>
                  </a:lnTo>
                  <a:lnTo>
                    <a:pt x="0" y="2481178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425036" cy="2509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-- step 3 - turnover by department and job title</a:t>
              </a:r>
            </a:p>
            <a:p>
              <a:pPr algn="l">
                <a:lnSpc>
                  <a:spcPts val="2482"/>
                </a:lnSpc>
              </a:pP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-- turnover by department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WITH </a:t>
              </a: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DepartmentTurnover AS(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SELECT d.department_id, d.department_name, 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</a:t>
              </a: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COUNT (distinct jh.employee_id) AS num_departures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FROM job_history jh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JOIN employees e ON  jh.employee_id = e.employee_id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</a:t>
              </a: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JOIN departments d ON e.department_id = d.department_id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WHERE jh.end_date IS NOT NULL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GROUP BY d.department_id , d.department_name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),</a:t>
              </a:r>
            </a:p>
            <a:p>
              <a:pPr algn="l">
                <a:lnSpc>
                  <a:spcPts val="2482"/>
                </a:lnSpc>
              </a:pP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DepartmentSize AS (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SELECT d.department_id,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COUNT (distinct e.employee_id) AS num_employees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FROM departments d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JOIN employees e ON  e.department_id = d.department_id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</a:t>
              </a: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GROUP BY  d.department_id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)</a:t>
              </a:r>
            </a:p>
            <a:p>
              <a:pPr algn="l">
                <a:lnSpc>
                  <a:spcPts val="2482"/>
                </a:lnSpc>
              </a:pPr>
            </a:p>
            <a:p>
              <a:pPr algn="l">
                <a:lnSpc>
                  <a:spcPts val="1782"/>
                </a:lnSpc>
              </a:pPr>
              <a:r>
                <a:rPr lang="en-US" sz="12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-- combine two ctes to calculate turnover rate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SELECT </a:t>
              </a: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dt.department_name, dt.num_departures, ds.num_employees,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ROUND(dt.num_departures / nullif(ds.num_employees, 0) *100, 2) AS turnover_rate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FROM</a:t>
              </a: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DepartmentTurnover dt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JOIN </a:t>
              </a: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DepartmentSize ds ON dt.department_id = ds.department_id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ORDER BY </a:t>
              </a: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turnover_rate DESC;</a:t>
              </a:r>
            </a:p>
            <a:p>
              <a:pPr algn="l">
                <a:lnSpc>
                  <a:spcPts val="2482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0002" y="-410813"/>
            <a:ext cx="10692052" cy="11108626"/>
          </a:xfrm>
          <a:custGeom>
            <a:avLst/>
            <a:gdLst/>
            <a:ahLst/>
            <a:cxnLst/>
            <a:rect r="r" b="b" t="t" l="l"/>
            <a:pathLst>
              <a:path h="11108626" w="10692052">
                <a:moveTo>
                  <a:pt x="0" y="0"/>
                </a:moveTo>
                <a:lnTo>
                  <a:pt x="10692052" y="0"/>
                </a:lnTo>
                <a:lnTo>
                  <a:pt x="10692052" y="11108626"/>
                </a:lnTo>
                <a:lnTo>
                  <a:pt x="0" y="11108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0002" y="3955488"/>
            <a:ext cx="7672575" cy="2376023"/>
          </a:xfrm>
          <a:custGeom>
            <a:avLst/>
            <a:gdLst/>
            <a:ahLst/>
            <a:cxnLst/>
            <a:rect r="r" b="b" t="t" l="l"/>
            <a:pathLst>
              <a:path h="2376023" w="7672575">
                <a:moveTo>
                  <a:pt x="0" y="0"/>
                </a:moveTo>
                <a:lnTo>
                  <a:pt x="7672575" y="0"/>
                </a:lnTo>
                <a:lnTo>
                  <a:pt x="7672575" y="2376024"/>
                </a:lnTo>
                <a:lnTo>
                  <a:pt x="0" y="2376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175818" y="272879"/>
            <a:ext cx="9824924" cy="9741242"/>
            <a:chOff x="0" y="0"/>
            <a:chExt cx="2587634" cy="2565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87634" cy="2565595"/>
            </a:xfrm>
            <a:custGeom>
              <a:avLst/>
              <a:gdLst/>
              <a:ahLst/>
              <a:cxnLst/>
              <a:rect r="r" b="b" t="t" l="l"/>
              <a:pathLst>
                <a:path h="2565595" w="2587634">
                  <a:moveTo>
                    <a:pt x="0" y="0"/>
                  </a:moveTo>
                  <a:lnTo>
                    <a:pt x="2587634" y="0"/>
                  </a:lnTo>
                  <a:lnTo>
                    <a:pt x="2587634" y="2565595"/>
                  </a:lnTo>
                  <a:lnTo>
                    <a:pt x="0" y="2565595"/>
                  </a:ln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587634" cy="2594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-- turnover by job title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WITH </a:t>
              </a: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JobTitleTurnover AS(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</a:t>
              </a: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SELECT j.job_id, j.job_title,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  COUNT(distinct jh.employee_id) AS num_departures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FROM  job_history jh 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</a:t>
              </a: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JOIN  employees e ON jh.employee_id = e.employee_id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JOIN  jobs  j ON j.job_id = e.job_id 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WHERE  jh.end_date IS NOT NULL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</a:t>
              </a: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GROUP  BY  j.job_id, j.job_title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),</a:t>
              </a:r>
            </a:p>
            <a:p>
              <a:pPr algn="l">
                <a:lnSpc>
                  <a:spcPts val="2482"/>
                </a:lnSpc>
              </a:pP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JobTitleSize AS(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SELECT j.job_id, 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  COUNT (distinct e.employee_id) AS num_employees 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FROM jobs j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JOIN employees e ON j.job_id = e.job_id 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</a:t>
              </a: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GROUP BY j.job_id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)</a:t>
              </a:r>
            </a:p>
            <a:p>
              <a:pPr algn="l">
                <a:lnSpc>
                  <a:spcPts val="2482"/>
                </a:lnSpc>
              </a:pP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-- combine two ctes to calculate turnover rate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SELECT 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jt.job_title,  jt.num_departures, js.num_employees,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ROUND(jt.num_departures / NULLIF(js.num_employees, 0) * 100, 2) AS turnover_rate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FROM 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JobTitleTurnover  jt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JOIN 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JobTitleSize js ON jt.job_id = js.job_id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ORDER BY </a:t>
              </a:r>
            </a:p>
            <a:p>
              <a:pPr algn="l">
                <a:lnSpc>
                  <a:spcPts val="2482"/>
                </a:lnSpc>
              </a:pPr>
              <a:r>
                <a:rPr lang="en-US" sz="1772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turnover_rate DESC;</a:t>
              </a:r>
            </a:p>
            <a:p>
              <a:pPr algn="l">
                <a:lnSpc>
                  <a:spcPts val="2482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263156" cy="11414375"/>
          </a:xfrm>
          <a:custGeom>
            <a:avLst/>
            <a:gdLst/>
            <a:ahLst/>
            <a:cxnLst/>
            <a:rect r="r" b="b" t="t" l="l"/>
            <a:pathLst>
              <a:path h="11414375" w="13263156">
                <a:moveTo>
                  <a:pt x="0" y="0"/>
                </a:moveTo>
                <a:lnTo>
                  <a:pt x="13263156" y="0"/>
                </a:lnTo>
                <a:lnTo>
                  <a:pt x="13263156" y="11414375"/>
                </a:lnTo>
                <a:lnTo>
                  <a:pt x="0" y="11414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62" r="0" b="-1036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67792" y="4073010"/>
            <a:ext cx="8947880" cy="193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97"/>
              </a:lnSpc>
            </a:pPr>
            <a:r>
              <a:rPr lang="en-US" sz="1135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DAGKzcFeLnE</dc:identifier>
  <dcterms:modified xsi:type="dcterms:W3CDTF">2011-08-01T06:04:30Z</dcterms:modified>
  <cp:revision>1</cp:revision>
  <dc:title># total number of employees in the company select count(*) as total_employees from employees;</dc:title>
</cp:coreProperties>
</file>